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B183"/>
    <a:srgbClr val="2A3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862ED1-034A-061D-CD48-8E616F2D34BD}" v="18" dt="2026-06-23T00:59:10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59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48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020766C-B3B8-FE91-ED7A-1CD5EFB0B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sp>
        <p:nvSpPr>
          <p:cNvPr id="3" name="Text 1"/>
          <p:cNvSpPr/>
          <p:nvPr/>
        </p:nvSpPr>
        <p:spPr>
          <a:xfrm>
            <a:off x="3718560" y="1070610"/>
            <a:ext cx="4137660" cy="1489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Inter"/>
              </a:rPr>
              <a:t>SAÚDE </a:t>
            </a:r>
          </a:p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Inter"/>
              </a:rPr>
              <a:t>INDÍGENA </a:t>
            </a:r>
          </a:p>
        </p:txBody>
      </p:sp>
      <p:sp>
        <p:nvSpPr>
          <p:cNvPr id="4" name="Text 2"/>
          <p:cNvSpPr/>
          <p:nvPr/>
        </p:nvSpPr>
        <p:spPr>
          <a:xfrm>
            <a:off x="3375660" y="2788918"/>
            <a:ext cx="4823460" cy="2552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da Atenção Primária nos DSEIs: </a:t>
            </a:r>
            <a:r>
              <a:rPr lang="en-US" sz="1200" dirty="0" err="1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</a:t>
            </a:r>
            <a:r>
              <a:rPr lang="en-US" sz="1200" dirty="0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</a:t>
            </a:r>
            <a:r>
              <a:rPr lang="en-US" sz="1200" dirty="0" err="1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</a:t>
            </a:r>
            <a:r>
              <a:rPr lang="en-US" sz="1200" dirty="0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</a:t>
            </a:r>
            <a:r>
              <a:rPr lang="en-US" sz="1200" dirty="0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200" dirty="0" err="1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</a:t>
            </a:r>
            <a:r>
              <a:rPr lang="en-US" sz="1200" dirty="0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2022 a 2025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53576" y="3326131"/>
            <a:ext cx="2606980" cy="1014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Autores: Lanna Soares &amp; Cauã de Godoy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</a:t>
            </a:r>
            <a:r>
              <a:rPr lang="en-US" sz="1000" dirty="0">
                <a:solidFill>
                  <a:srgbClr val="E4E7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Final — Business Intelligence II • 2026</a:t>
            </a:r>
            <a:endParaRPr lang="en-US" sz="100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90862F0-724A-BC1E-0345-708EF2930E7C}"/>
              </a:ext>
            </a:extLst>
          </p:cNvPr>
          <p:cNvCxnSpPr/>
          <p:nvPr/>
        </p:nvCxnSpPr>
        <p:spPr>
          <a:xfrm>
            <a:off x="3863340" y="3503609"/>
            <a:ext cx="39928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INTRODUÇÃO E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Contexto</a:t>
            </a:r>
            <a:endParaRPr lang="en-US" sz="2800" dirty="0">
              <a:solidFill>
                <a:srgbClr val="2A362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1645920"/>
            <a:ext cx="2857500" cy="3208020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08660" y="1893570"/>
            <a:ext cx="18059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SESAI &amp; </a:t>
            </a:r>
            <a:r>
              <a:rPr lang="en-US" sz="1800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SasiSUS</a:t>
            </a:r>
            <a:endParaRPr lang="en-US" sz="1800" dirty="0">
              <a:solidFill>
                <a:srgbClr val="2A362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420000"/>
            <a:ext cx="2346960" cy="1927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SESAI (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Secretaria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Especial de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Indígena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coordena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Subsistema de Atenção à Saúde Indígena (SasiSUS), gerindo de forma descentralizada a atenção primária nacional.</a:t>
            </a:r>
            <a:endParaRPr lang="en-US" sz="1300" dirty="0">
              <a:solidFill>
                <a:srgbClr val="2A3622"/>
              </a:solidFill>
            </a:endParaRP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A1F4C808-BF4D-B7B2-9D3C-7E0F5134C8C0}"/>
              </a:ext>
            </a:extLst>
          </p:cNvPr>
          <p:cNvSpPr/>
          <p:nvPr/>
        </p:nvSpPr>
        <p:spPr>
          <a:xfrm>
            <a:off x="3200400" y="1645920"/>
            <a:ext cx="2857500" cy="3208020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377AB236-B6E4-4639-98E7-4D2D5D254EE7}"/>
              </a:ext>
            </a:extLst>
          </p:cNvPr>
          <p:cNvSpPr/>
          <p:nvPr/>
        </p:nvSpPr>
        <p:spPr>
          <a:xfrm>
            <a:off x="6172200" y="1645920"/>
            <a:ext cx="2857500" cy="3208020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728085" y="189357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é um DSEI?</a:t>
            </a:r>
            <a:endParaRPr lang="en-US" sz="1800" dirty="0">
              <a:solidFill>
                <a:srgbClr val="2A362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421380" y="2579370"/>
            <a:ext cx="2522220" cy="1996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Distritos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Sanitários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Especiais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Indígenas (DSEIs) são as 34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unidades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responsáveis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levar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até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</a:rPr>
              <a:t>aldeias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brasileiras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Cada um opera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um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território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com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populações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operacionais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distintas</a:t>
            </a:r>
            <a:r>
              <a:rPr lang="en-US" sz="1300" dirty="0">
                <a:solidFill>
                  <a:srgbClr val="2A36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 </a:t>
            </a:r>
            <a:endParaRPr lang="en-US" sz="1300" dirty="0">
              <a:solidFill>
                <a:srgbClr val="2A362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998970" y="1893570"/>
            <a:ext cx="120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PNASPI</a:t>
            </a:r>
            <a:endParaRPr lang="en-US" sz="1800" dirty="0">
              <a:solidFill>
                <a:srgbClr val="2A362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28410" y="2701291"/>
            <a:ext cx="2545080" cy="1644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300" dirty="0">
                <a:solidFill>
                  <a:srgbClr val="2A3622"/>
                </a:solidFill>
                <a:latin typeface="Inter"/>
              </a:rPr>
              <a:t>A PNASPI é a Política Nacional de Atenção à Saúde dos Povos Indígenas. Ela foi criada com o objetivo de garantir o direito dos povos indígenas ao acesso integral e equitativo à saúde, respeitando suas especificidades culturais, sociais e territoriais.</a:t>
            </a:r>
            <a:endParaRPr lang="en-US" sz="1300" dirty="0">
              <a:solidFill>
                <a:srgbClr val="2A3622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DIAGNÓSTICO DE NEGÓCIO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D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Problema de Negócio</a:t>
            </a:r>
            <a:endParaRPr lang="en-US" sz="28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9CD2B50-04E6-7091-0B7E-3A36A54F3F40}"/>
              </a:ext>
            </a:extLst>
          </p:cNvPr>
          <p:cNvSpPr/>
          <p:nvPr/>
        </p:nvSpPr>
        <p:spPr>
          <a:xfrm>
            <a:off x="228600" y="1451608"/>
            <a:ext cx="8788400" cy="1120142"/>
          </a:xfrm>
          <a:prstGeom prst="roundRect">
            <a:avLst/>
          </a:prstGeom>
          <a:solidFill>
            <a:srgbClr val="2A3622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564007"/>
            <a:ext cx="7782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ausência de uma ferramenta analítica unificada impedia a comparação ágil da performance assistencial dos 34 DSEIs ao longo do tempo.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dados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existiam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bases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fragmentadas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,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consolidade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possibilidade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comparativa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447800" y="3535682"/>
            <a:ext cx="8346440" cy="721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Acompanhar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performance e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dos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indígena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Monitorar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prestação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dos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à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população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indígena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</a:p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Controlar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visualizer de forma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fácil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histórico dos dados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epidemiológicos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indígenas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Possibilitar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comparative entre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disponíveis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4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8D0929AC-E2B7-4A58-0DD6-4DE0B9941271}"/>
              </a:ext>
            </a:extLst>
          </p:cNvPr>
          <p:cNvSpPr/>
          <p:nvPr/>
        </p:nvSpPr>
        <p:spPr>
          <a:xfrm>
            <a:off x="3566160" y="280416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</a:rPr>
              <a:t>OBJETIVOS DO DASHBOARD: 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ALINHAMENTO ORGANIZACIONAL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D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Stakeholders e Impacto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3360" y="1645920"/>
            <a:ext cx="2743200" cy="3291840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2041979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Gestores SESAI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2460" y="2581910"/>
            <a:ext cx="1905000" cy="1851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Necessitam de visão integrada nacional para formular políticas públicas e identificar assimetrias regionais rapidamente.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85160" y="1645920"/>
            <a:ext cx="2773680" cy="3314699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3383280" y="204343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Coordenadores DSEI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538730"/>
            <a:ext cx="2346960" cy="1873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Demandam visão granular e tática de suas respectivas áreas para correções rápidas de coberturas assistenciais locais.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160" y="1645920"/>
            <a:ext cx="2727960" cy="3291840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66114" y="204343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Auditoria e Controle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65570" y="2774950"/>
            <a:ext cx="2263140" cy="1393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Utilizam dados estruturados e confiáveis para fiscalização, prestação de contas e governança do orçamento.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A3622"/>
                </a:solidFill>
                <a:latin typeface="Sora" pitchFamily="34" charset="0"/>
                <a:ea typeface="Sora"/>
                <a:cs typeface="Sora" pitchFamily="34" charset="-120"/>
              </a:rPr>
              <a:t>4</a:t>
            </a:r>
            <a:r>
              <a:rPr lang="en-US" sz="1100" b="1">
                <a:solidFill>
                  <a:srgbClr val="2A3622"/>
                </a:solidFill>
                <a:latin typeface="Sora"/>
                <a:ea typeface="Sora"/>
                <a:cs typeface="Sora" pitchFamily="34" charset="-120"/>
              </a:rPr>
              <a:t>. ENGENHARIA DE DADOS</a:t>
            </a:r>
            <a:endParaRPr lang="en-US" sz="1100">
              <a:latin typeface="Sora"/>
              <a:ea typeface="Sor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D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Modelagem Dimensional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5600" y="1574800"/>
            <a:ext cx="3840480" cy="3352800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259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Tabela Fato Principal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763520" cy="179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Fato_Saude:</a:t>
            </a:r>
            <a:endParaRPr lang="en-US" sz="14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 os dados de cobertura quantitativa, armazenando as métricas de atendimento dos serviços de saúde e referenciando as chaves das dimensões.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574800"/>
            <a:ext cx="3840480" cy="3352800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156200" y="1920240"/>
            <a:ext cx="322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Tabelas Dimensão (N:1)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95520" y="2129790"/>
            <a:ext cx="3992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Dim_DSEI: Localização territorial e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ctr">
              <a:lnSpc>
                <a:spcPts val="2000"/>
              </a:lnSpc>
              <a:buNone/>
            </a:pP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Dim_Tempo: Estrutura temporal para análises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trimestrais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ctr">
              <a:lnSpc>
                <a:spcPts val="2000"/>
              </a:lnSpc>
              <a:buNone/>
            </a:pP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Dim_Indicador: Categorização padronizada dos serviços assistenciais.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A3622"/>
                </a:solidFill>
                <a:latin typeface="Sora"/>
                <a:ea typeface="Sora"/>
                <a:cs typeface="Sora" pitchFamily="34" charset="-120"/>
              </a:rPr>
              <a:t>5. PLANEJAMENTO ESTRATÉGICO</a:t>
            </a:r>
            <a:endParaRPr lang="en-US" sz="1100">
              <a:latin typeface="Sora"/>
              <a:ea typeface="Sor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260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D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OKRs e KPIs do Projeto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519725"/>
              </p:ext>
            </p:extLst>
          </p:nvPr>
        </p:nvGraphicFramePr>
        <p:xfrm>
          <a:off x="482600" y="1282700"/>
          <a:ext cx="8295640" cy="3495040"/>
        </p:xfrm>
        <a:graphic>
          <a:graphicData uri="http://schemas.openxmlformats.org/drawingml/2006/table">
            <a:tbl>
              <a:tblPr/>
              <a:tblGrid>
                <a:gridCol w="207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3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3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9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Objetivo Estratégico (OKR)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Indicador de Sucesso (KPI)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Justificativa Analítica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OKR 1: Ampliar cobertura dos serviços de atenção básica.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Cobertura Média Nacional (%)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≥ 70%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Mede o nível geral de capilaridade e atendimento assistencial no SasiSUS.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OKR 1: Garantir alto patamar assistencial.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Melhor Cobertura por DSEI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/>
                        <a:t>Não</a:t>
                      </a:r>
                      <a:r>
                        <a:rPr lang="en-US" sz="1200" dirty="0"/>
                        <a:t> se </a:t>
                      </a:r>
                      <a:r>
                        <a:rPr lang="en-US" sz="1200" dirty="0" err="1"/>
                        <a:t>aplica</a:t>
                      </a:r>
                      <a:r>
                        <a:rPr lang="en-US" sz="12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Mapeia territórios modelo para replicação de boas práticas consolidadas.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OKR 2: Reduzir assimetrias assistenciais regionais.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Coeficiente de Variação (CV)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/>
                        <a:t>Não</a:t>
                      </a:r>
                      <a:r>
                        <a:rPr lang="en-US" sz="1200" dirty="0"/>
                        <a:t> se </a:t>
                      </a:r>
                      <a:r>
                        <a:rPr lang="en-US" sz="1200" dirty="0" err="1"/>
                        <a:t>aplica</a:t>
                      </a:r>
                      <a:r>
                        <a:rPr lang="en-US" sz="12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Avalia disparidade de entrega de saúde entre regiões críticas e urbanas.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OKR 2: Expandir conformidade das bases regionais.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DSEIs acima da meta (%)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/>
                        <a:t>Não</a:t>
                      </a:r>
                      <a:r>
                        <a:rPr lang="en-US" sz="1200" dirty="0"/>
                        <a:t> se </a:t>
                      </a:r>
                      <a:r>
                        <a:rPr lang="en-US" sz="1200" dirty="0" err="1"/>
                        <a:t>aplica</a:t>
                      </a:r>
                      <a:r>
                        <a:rPr lang="en-US" sz="1200" dirty="0"/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Fomenta a homogeneidade nacional, reduzindo faixas críticas locais.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6. ENGENHARIA DE 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D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Tratamento no Power Query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37160" cy="137160"/>
          </a:xfrm>
          <a:prstGeom prst="ellipse">
            <a:avLst/>
          </a:prstGeom>
          <a:solidFill>
            <a:srgbClr val="CDB18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743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Tipagem e Limpeza Rigorosa: Definição precisa dos tipos de dados (datas, percentuais, ids) e tratamento preventivo de registros nulos e redundâncias operacionais.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137160" cy="137160"/>
          </a:xfrm>
          <a:prstGeom prst="ellipse">
            <a:avLst/>
          </a:prstGeom>
          <a:solidFill>
            <a:srgbClr val="2A36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97280" y="2125979"/>
            <a:ext cx="7802880" cy="891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de Unpivot: </a:t>
            </a:r>
            <a:r>
              <a:rPr lang="en-US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Conversão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</a:rPr>
              <a:t>colunas</a:t>
            </a: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linhas para transformar a base original wide no padrão analítico long, otimizando o cálculo de indicadores em lote.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31820"/>
            <a:ext cx="137160" cy="137160"/>
          </a:xfrm>
          <a:prstGeom prst="ellipse">
            <a:avLst/>
          </a:prstGeom>
          <a:solidFill>
            <a:srgbClr val="CDB18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87152" y="2857499"/>
            <a:ext cx="780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</a:rPr>
              <a:t> Padronização de nomes: Todas as colunas foram renomeadas seguindo o padrão </a:t>
            </a:r>
            <a:r>
              <a:rPr lang="pt-BR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</a:rPr>
              <a:t>snake_case</a:t>
            </a:r>
            <a:r>
              <a:rPr lang="pt-BR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</a:rPr>
              <a:t> para as tabelas fato e </a:t>
            </a:r>
            <a:r>
              <a:rPr lang="pt-BR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</a:rPr>
              <a:t>Title</a:t>
            </a:r>
            <a:r>
              <a:rPr lang="pt-BR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</a:rPr>
              <a:t> Case para as dimensões. Os nomes originais dos indicadores (ex.: PNASPIAS_06_perc_prenat) foram mapeados para nomes legíveis (ex.: Pré-Natal) na </a:t>
            </a:r>
            <a:r>
              <a:rPr lang="pt-BR" sz="1400" dirty="0" err="1">
                <a:solidFill>
                  <a:srgbClr val="4A5245"/>
                </a:solidFill>
                <a:latin typeface="Inter" pitchFamily="34" charset="0"/>
                <a:ea typeface="Inter" pitchFamily="34" charset="-122"/>
              </a:rPr>
              <a:t>Dim_Indicador</a:t>
            </a:r>
            <a:r>
              <a:rPr lang="pt-BR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</a:rPr>
              <a:t>.</a:t>
            </a:r>
          </a:p>
        </p:txBody>
      </p:sp>
      <p:sp>
        <p:nvSpPr>
          <p:cNvPr id="10" name="Shape 8"/>
          <p:cNvSpPr/>
          <p:nvPr/>
        </p:nvSpPr>
        <p:spPr>
          <a:xfrm>
            <a:off x="721392" y="3977640"/>
            <a:ext cx="137160" cy="137160"/>
          </a:xfrm>
          <a:prstGeom prst="ellipse">
            <a:avLst/>
          </a:prstGeom>
          <a:solidFill>
            <a:srgbClr val="2A36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87152" y="3611880"/>
            <a:ext cx="754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2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Classificação Dinâmica: Criação de coluna de suporte para categorização imediata do desempenho dos DSEIs em: Crítica (&lt;50%), Moderada (50-70%), Adequada (70-90%) e Excelente (&gt;90%).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10. CONCLUSÕES FINAIS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D1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Conclusões e Recomendações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554480"/>
            <a:ext cx="2743200" cy="3353186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512758" y="1942232"/>
            <a:ext cx="19873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Consolidação</a:t>
            </a: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e </a:t>
            </a:r>
            <a:r>
              <a:rPr lang="en-US" sz="1800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Integraçã</a:t>
            </a:r>
            <a:r>
              <a:rPr lang="en-US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</a:t>
            </a:r>
            <a:r>
              <a:rPr lang="en-US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dos Dados 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2743200" cy="1851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554480"/>
            <a:ext cx="2743200" cy="3353186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3474720" y="1943101"/>
            <a:ext cx="2289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</a:rPr>
              <a:t>Geração</a:t>
            </a:r>
            <a:r>
              <a:rPr lang="en-US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</a:rPr>
              <a:t> de </a:t>
            </a:r>
            <a:r>
              <a:rPr lang="en-US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</a:rPr>
              <a:t>Inteligência</a:t>
            </a:r>
            <a:r>
              <a:rPr lang="en-US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</a:rPr>
              <a:t> para a </a:t>
            </a:r>
            <a:r>
              <a:rPr lang="en-US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</a:rPr>
              <a:t>Gestão</a:t>
            </a:r>
            <a:r>
              <a:rPr lang="en-US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</a:rPr>
              <a:t> 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2652629"/>
            <a:ext cx="2743200" cy="177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400" dirty="0"/>
              <a:t>Recomenda-se utilizar continuamente os indicadores e dashboards como instrumentos de monitoramento e apoio à tomada de decisão orientada por evidências.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743200" cy="3353186"/>
          </a:xfrm>
          <a:prstGeom prst="roundRect">
            <a:avLst/>
          </a:prstGeom>
          <a:solidFill>
            <a:srgbClr val="CDB183"/>
          </a:solidFill>
          <a:ln w="12700">
            <a:solidFill>
              <a:srgbClr val="E4E7E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Text 9"/>
          <p:cNvSpPr/>
          <p:nvPr/>
        </p:nvSpPr>
        <p:spPr>
          <a:xfrm>
            <a:off x="6657179" y="1920240"/>
            <a:ext cx="186468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Evolução</a:t>
            </a:r>
            <a:r>
              <a:rPr lang="en-US" sz="1800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</a:t>
            </a:r>
            <a:r>
              <a:rPr lang="en-US" b="1" dirty="0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 </a:t>
            </a:r>
            <a:r>
              <a:rPr lang="en-US" b="1" dirty="0" err="1">
                <a:solidFill>
                  <a:srgbClr val="2A362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Solução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73021" y="2493911"/>
            <a:ext cx="2432998" cy="2092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400" dirty="0"/>
              <a:t>Recomenda-se evoluir a solução com processos automatizados de atualização, incorporação de novos indicadores e mecanismos de monitoramento contínuo do desempenho dos </a:t>
            </a:r>
            <a:r>
              <a:rPr lang="pt-BR" sz="1400" dirty="0" err="1"/>
              <a:t>DSEIs</a:t>
            </a:r>
            <a:r>
              <a:rPr lang="pt-BR" sz="1400" dirty="0"/>
              <a:t>.</a:t>
            </a:r>
            <a:endParaRPr lang="en-US" sz="13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A4A42E1-2CA8-587A-4FCD-3BEA918660B2}"/>
              </a:ext>
            </a:extLst>
          </p:cNvPr>
          <p:cNvSpPr/>
          <p:nvPr/>
        </p:nvSpPr>
        <p:spPr>
          <a:xfrm>
            <a:off x="204872" y="2674621"/>
            <a:ext cx="2743200" cy="177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pt-BR" sz="1400" dirty="0"/>
              <a:t>Recomenda-se manter a centralização e a integração das bases de dados, garantindo uma visão histórica, consistente e unificada dos indicadores de saúde indígena.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DB18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CEUB • Ciência de Dados e Machine Learning</a:t>
            </a:r>
            <a:endParaRPr lang="en-US" sz="1100" dirty="0">
              <a:solidFill>
                <a:srgbClr val="CDB18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-457200" y="16687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DB18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Perguntas &amp; Respostas</a:t>
            </a:r>
            <a:endParaRPr lang="en-US" sz="4800" dirty="0">
              <a:solidFill>
                <a:srgbClr val="CDB183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-45720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 pela atenção de todos!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812</Words>
  <Application>Microsoft Office PowerPoint</Application>
  <PresentationFormat>Apresentação na tela (16:9)</PresentationFormat>
  <Paragraphs>89</Paragraphs>
  <Slides>9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Lanna Soares</cp:lastModifiedBy>
  <cp:revision>25</cp:revision>
  <dcterms:created xsi:type="dcterms:W3CDTF">2026-06-22T22:56:07Z</dcterms:created>
  <dcterms:modified xsi:type="dcterms:W3CDTF">2026-06-23T00:59:30Z</dcterms:modified>
</cp:coreProperties>
</file>